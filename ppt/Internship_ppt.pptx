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slide. Introduce the team and the one-line pitch: we built an ML surrogate plus a genetic algorithm to design a patch antenna for 2.45 GHz using our own HFSS-generated data.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problem as slow manual design, the objective as fast surrogate + GA inverse design, and the application as the 2.45 GHz band.</a:t>
            </a: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 the physics briefly: patch resonance, S11 as the match metric, inset feed for impedance, and the idea of a surrogate. Point at the HFSS geometry.</a:t>
            </a: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the fixed specs (2.45 GHz, FR-4, copper) and the two swept variables l and w that define the design space the ML model learns.</a:t>
            </a:r>
          </a:p>
        </p:txBody>
      </p:sp>
      <p:sp>
        <p:nvSpPr>
          <p:cNvPr id="58" name="Google Shape;5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left-to-right through the pipeline: HFSS generates data, we train a Random Forest surrogate, the GA searches it for the best geometry. Name the tools.</a:t>
            </a:r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we generated our own dataset in HFSS — a full l×w factorial sweep, 37k rows over 121 geometries. This is what makes the project ours rather than using a prebuilt set.</a:t>
            </a:r>
          </a:p>
        </p:txBody>
      </p:sp>
      <p:sp>
        <p:nvSpPr>
          <p:cNvPr id="100" name="Google Shape;10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part 1: S11. Show dips shifting with length, note the deep matches below -20 dB, and that the band covers 2.45 GHz. Mention VSWR and impedance bandwidth follow from S11.</a:t>
            </a:r>
          </a:p>
        </p:txBody>
      </p:sp>
      <p:sp>
        <p:nvSpPr>
          <p:cNvPr id="121" name="Google Shape;12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part 2: radiation. Broadside lobe, ~5.4 dBi directivity, efficiency limited by FR-4 loss, current pattern confirms the mode. These come from the gain dataset and HFSS field plots.</a:t>
            </a:r>
          </a:p>
        </p:txBody>
      </p:sp>
      <p:sp>
        <p:nvSpPr>
          <p:cNvPr id="133" name="Google Shape;1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Discussion: the surrogate hits R2 0.84 under honest geometry-split validation. The GA found l=28.79, w=28.10 matched at 2.45 GHz. Explain forward vs inverse and why GroupKFold matters (no leakage).</a:t>
            </a:r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key slide: we closed the loop. The GA's chosen geometry, when re-simulated in real HFSS, resonates at 2.45 GHz (m1 = -15.49 dB). Predicted -18.77 vs verified -15.49 - both strong matches at the target. This proves the pipeline designs antennas that actually work, not just models that score well.</a:t>
            </a:r>
          </a:p>
        </p:txBody>
      </p:sp>
      <p:sp>
        <p:nvSpPr>
          <p:cNvPr id="182" name="Google Shape;18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up: what we achieved, honest validation, and the roadmap (gain objective, multi-objective, array, closing the loop with a confirmation simulation). Fill in real references.</a:t>
            </a:r>
          </a:p>
        </p:txBody>
      </p:sp>
      <p:sp>
        <p:nvSpPr>
          <p:cNvPr id="201" name="Google Shape;20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closely related papers: Merino-Fernandez (ML for patch antenna design - almost identical to our approach), Sarkar (GA + DNN for UWB - the GA + ML pairing), and Gupta (deep learning for mmWave array pattern synthesis - relevant to our array extension). These situate our work in the current literature.</a:t>
            </a:r>
          </a:p>
        </p:txBody>
      </p:sp>
      <p:sp>
        <p:nvSpPr>
          <p:cNvPr id="214" name="Google Shape;2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slide for Q&amp;A on gain. Boresight gain peaks near the band at 0-3 dB. Steep dips are pattern nulls, not failures. Gain is not yet in the GA because this run covers few geometries - that is why it is a backup, not a main result.</a:t>
            </a:r>
          </a:p>
        </p:txBody>
      </p:sp>
      <p:sp>
        <p:nvSpPr>
          <p:cNvPr id="230" name="Google Shape;23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1234440"/>
            <a:ext cx="8138160" cy="3657600"/>
          </a:xfrm>
          <a:prstGeom prst="roundRect">
            <a:avLst>
              <a:gd name="adj" fmla="val 3000"/>
            </a:avLst>
          </a:prstGeom>
          <a:solidFill>
            <a:srgbClr val="12224A">
              <a:alpha val="7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18745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ML-Driven Design of a Microstrip</a:t>
            </a:r>
            <a:endParaRPr sz="4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Patch Antenna</a:t>
            </a:r>
            <a:endParaRPr sz="4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CADCFC"/>
              </a:buClr>
              <a:buSzPts val="1700"/>
            </a:pPr>
            <a:r>
              <a:rPr lang="en-US" sz="1700" i="1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surrogate model </a:t>
            </a:r>
            <a:r>
              <a:rPr lang="en-US" sz="1700" b="0" i="1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genetic algorithm pipeline for inverse antenna design</a:t>
            </a:r>
            <a:endParaRPr sz="17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 dirty="0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members: </a:t>
            </a:r>
            <a:r>
              <a:rPr lang="en-US" sz="13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Karthik Jasti · Kushal J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2FC39A"/>
              </a:buClr>
              <a:buSzPts val="1300"/>
            </a:pPr>
            <a:r>
              <a:rPr lang="en-US" sz="1300" b="1" i="0" u="none" strike="noStrike" cap="none" dirty="0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SRN: </a:t>
            </a:r>
            <a:r>
              <a:rPr lang="en-US" sz="13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PES1UG23CS285</a:t>
            </a:r>
            <a:r>
              <a:rPr lang="en-US" sz="1300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· PES1UG23EC154 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 dirty="0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Guide: </a:t>
            </a:r>
            <a:r>
              <a:rPr lang="en-US" sz="13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Sayyed Arif Ali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 dirty="0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Department: </a:t>
            </a:r>
            <a:r>
              <a:rPr lang="en-US" sz="13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Electronics &amp; Communication Engineering 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514E5-1447-A09E-FF1F-AE6ACD26712D}"/>
              </a:ext>
            </a:extLst>
          </p:cNvPr>
          <p:cNvSpPr txBox="1"/>
          <p:nvPr/>
        </p:nvSpPr>
        <p:spPr>
          <a:xfrm>
            <a:off x="4636008" y="4251960"/>
            <a:ext cx="192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(TEAM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463040" y="5486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Introduction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22960" y="15544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05840" y="16916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Problem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05840" y="2103120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Designing a patch antenna means finding dimensions that resonate at a target frequency. Traditional trial-and-error simulation in HFSS is slow — each design takes minutes to solve.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34840" y="15544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617720" y="16916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Objective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17720" y="2103120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a fast ML surrogate that predicts antenna performance instantly, then use a genetic algorithm to search backwards for the geometry that meets a target — inverse design.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046720" y="15544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229600" y="1691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Applications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29600" y="2103120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2.45 GHz Wi-Fi / ISM band, IoT devices, Bluetooth, and any compact wireless system needing a low-cost printed antenna.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" y="388620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97280" y="4069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Why this matters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97280" y="4526280"/>
            <a:ext cx="99669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50"/>
              <a:buFont typeface="Calibri" panose="020F0502020204030204"/>
              <a:buChar char="•"/>
            </a:pPr>
            <a:r>
              <a:rPr lang="en-US" sz="14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accurate surrogate turns a minutes-long HFSS solve into a millisecond prediction.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800"/>
              </a:spcBef>
              <a:spcAft>
                <a:spcPts val="0"/>
              </a:spcAft>
              <a:buClr>
                <a:srgbClr val="1B2740"/>
              </a:buClr>
              <a:buSzPts val="1450"/>
              <a:buFont typeface="Calibri" panose="020F0502020204030204"/>
              <a:buChar char="•"/>
            </a:pPr>
            <a:r>
              <a:rPr lang="en-US" sz="14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genetic algorithm can then explore thousands of candidate designs that would be infeasible to simulate directly.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800"/>
              </a:spcBef>
              <a:spcAft>
                <a:spcPts val="0"/>
              </a:spcAft>
              <a:buClr>
                <a:srgbClr val="1B2740"/>
              </a:buClr>
              <a:buSzPts val="1450"/>
              <a:buFont typeface="Calibri" panose="020F0502020204030204"/>
              <a:buChar char="•"/>
            </a:pPr>
            <a:r>
              <a:rPr lang="en-US" sz="14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result: automated, target-driven antenna design instead of manual tuning.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Background &amp; Antenna Concepts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22960" y="1600200"/>
            <a:ext cx="61264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350"/>
              <a:buFont typeface="Calibri" panose="020F0502020204030204"/>
              <a:buChar char="•"/>
            </a:pPr>
            <a:r>
              <a:rPr lang="en-US" sz="135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Microstrip patch antenna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</a:pPr>
            <a:r>
              <a:rPr lang="en-US" sz="13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metal patch on a grounded dielectric substrate; radiates broadside when the patch length ≈ half a wavelength in the substrate.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  <a:buFont typeface="Calibri" panose="020F0502020204030204"/>
              <a:buChar char="•"/>
            </a:pPr>
            <a:r>
              <a:rPr lang="en-US" sz="135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Resonance &amp; S11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</a:pPr>
            <a:r>
              <a:rPr lang="en-US" sz="13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S11 (return loss) measures impedance match. A deep negative dip means the antenna accepts power efficiently at that frequency.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  <a:buFont typeface="Calibri" panose="020F0502020204030204"/>
              <a:buChar char="•"/>
            </a:pPr>
            <a:r>
              <a:rPr lang="en-US" sz="135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Inset feed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</a:pPr>
            <a:r>
              <a:rPr lang="en-US" sz="13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Recessing the feed into the patch tunes the input impedance to match a 50 Ω line.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  <a:buFont typeface="Calibri" panose="020F0502020204030204"/>
              <a:buChar char="•"/>
            </a:pPr>
            <a:r>
              <a:rPr lang="en-US" sz="135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Surrogate modelling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  <a:buClr>
                <a:srgbClr val="1B2740"/>
              </a:buClr>
              <a:buSzPts val="1350"/>
            </a:pPr>
            <a:r>
              <a:rPr lang="en-US" sz="13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ML model trained on simulation data acts as a fast stand-in for the full-wave solver.</a:t>
            </a:r>
            <a:endParaRPr sz="13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7223760" y="17373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5" descr="/home/claude/deck/assets/hfss_geometry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360920" y="1920240"/>
            <a:ext cx="384048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223760" y="4709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HFSS model of the inset-fed patch on its radiation boundary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463040" y="5486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Design Requirements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22960" y="16002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960120" y="1737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 frequency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960120" y="21031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2.45 GHz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6012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Wi-Fi / ISM band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520440" y="16002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657600" y="1737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Substrate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57600" y="21031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FR-4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60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εr = 4.4, h = 1.6 mm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217920" y="16002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355080" y="1737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Conductor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355080" y="21031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Copper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35508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 = 0.035 mm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915400" y="16002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9052560" y="17373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Match target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052560" y="21031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S11 &lt; −10 dB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05256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 2.45 GHz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Swept design variables (the ML search space)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2296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05840" y="4297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Patch length  l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05840" y="470916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25mm → 30 mm  (11 values, 0.5 mm step)</a:t>
            </a: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 panose="020F0502020204030204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Primary control of resonant frequency — sets the half-wavelength condition.</a:t>
            </a: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12648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309360" y="4297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Patch width  w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309360" y="470916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28mm → 33 mm  (11 values, 0.5 mm step)</a:t>
            </a: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 panose="020F0502020204030204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Controls input impedance and bandwidth; swept jointly with length.</a:t>
            </a:r>
            <a:endParaRPr sz="12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Design Methodology &amp; Workflow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4" name="Google Shape;94;p7" descr="/home/claude/deck/assets/fig_pipelin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0080" y="1783080"/>
            <a:ext cx="108813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051560" y="539496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350"/>
              <a:buFont typeface="Calibri" panose="020F0502020204030204"/>
              <a:buNone/>
            </a:pPr>
            <a:r>
              <a:rPr lang="en-US" sz="1350" b="1" i="0" u="none" strike="noStrike" cap="none">
                <a:solidFill>
                  <a:srgbClr val="12224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Tools:  </a:t>
            </a:r>
            <a:r>
              <a:rPr lang="en-US" sz="13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Ansys HFSS 2025 R2 (data generation)  ·  Python + scikit-learn (Random Forest surrogate)  ·  PyGAD (genetic algorithm)  ·  Cursor (pipeline development)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Antenna Design &amp; Dataset Generation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22960" y="169164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8" descr="/home/claude/deck/assets/fig_design_spac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1828800"/>
            <a:ext cx="475488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822960" y="49834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space: best S11 across all l × w geometries (★ = GA optimum)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126480" y="1783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3400"/>
              <a:buFont typeface="Cambria" panose="02040503050406030204"/>
              <a:buNone/>
            </a:pPr>
            <a:r>
              <a:rPr lang="en-US" sz="34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37,026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8321040" y="189280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rows generated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126480" y="26517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3400"/>
              <a:buFont typeface="Cambria" panose="02040503050406030204"/>
              <a:buNone/>
            </a:pPr>
            <a:r>
              <a:rPr lang="en-US" sz="34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121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321040" y="276148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unique (l, w) geometries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126480" y="352044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3400"/>
              <a:buFont typeface="Cambria" panose="02040503050406030204"/>
              <a:buNone/>
            </a:pPr>
            <a:r>
              <a:rPr lang="en-US" sz="34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51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8321040" y="363016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frequency points (1.8–2.8 GHz)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126480" y="43891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3400"/>
              <a:buFont typeface="Cambria" panose="02040503050406030204"/>
              <a:buNone/>
            </a:pPr>
            <a:r>
              <a:rPr lang="en-US" sz="34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321040" y="449884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self-owned dataset (not prebuilt)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126480" y="52578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6355080" y="53492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 factorial l × w sweep — captures how length and width interact, not just one at a time.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E8B0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Results I — S11 / Return Loss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822960" y="164592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9" descr="/home/claude/deck/assets/fig_s11_family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0120" y="1783080"/>
            <a:ext cx="56692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822960" y="52578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S11 vs frequency — the resonant dip shifts as patch length changes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040880" y="1536192"/>
            <a:ext cx="4480560" cy="39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Resonant dips track geometry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</a:pPr>
            <a:r>
              <a:rPr lang="en-US" sz="130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Changing patch length moves the resonance across the band — confirming l is the primary frequency control.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matches achieved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</a:pPr>
            <a:r>
              <a:rPr lang="en-US" sz="130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designs reach below −20 dB return loss (&gt;99% power accepted).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 band bracketed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</a:pPr>
            <a:r>
              <a:rPr lang="en-US" sz="130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design space spans 2.45 GHz — essential so the GA can find a matched design inside it.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1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Impedance bandwidth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spcBef>
                <a:spcPts val="500"/>
              </a:spcBef>
              <a:spcAft>
                <a:spcPts val="0"/>
              </a:spcAft>
              <a:buClr>
                <a:srgbClr val="1B2740"/>
              </a:buClr>
              <a:buSzPts val="1300"/>
            </a:pPr>
            <a:r>
              <a:rPr lang="en-US" sz="1300" b="0" i="0" u="none" strike="noStrike" cap="none" dirty="0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−10 dB bandwidth around resonance defines the usable operating range.</a:t>
            </a:r>
            <a:endParaRPr sz="13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E8B0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Results II — Gain, Pattern &amp; Fields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82296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10" descr="/home/claude/deck/assets/gain3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2688" y="1755648"/>
            <a:ext cx="3209544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/>
          <p:nvPr/>
        </p:nvSpPr>
        <p:spPr>
          <a:xfrm>
            <a:off x="822960" y="43434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3D gain pattern — broadside main lobe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443484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10" descr="/home/claude/deck/assets/efiel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544568" y="1755648"/>
            <a:ext cx="3209544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4434840" y="43434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E-field distribution on the patch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804672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10" descr="/home/claude/deck/assets/jsurf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56448" y="1755648"/>
            <a:ext cx="3209544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/>
          <p:nvPr/>
        </p:nvSpPr>
        <p:spPr>
          <a:xfrm>
            <a:off x="8046720" y="43434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Surface current distribution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822960" y="489204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097280" y="502920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Clean broadside radiation with directivity ≈ 5.4 dBi — typical for a single patch element.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40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FR-4 substrate loss reduces total efficiency, as expected for a low-cost dielectric.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400"/>
              </a:spcBef>
              <a:spcAft>
                <a:spcPts val="0"/>
              </a:spcAft>
              <a:buClr>
                <a:srgbClr val="1B2740"/>
              </a:buClr>
              <a:buSzPts val="1300"/>
              <a:buFont typeface="Calibri" panose="020F0502020204030204"/>
              <a:buChar char="•"/>
            </a:pP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Surface current concentrated along the feed and patch centre confirms correct dominant-mode operation.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8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Discussion — ML Surrogate &amp; GA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Surrogate performance (honest, geometry-split)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22960" y="19659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822960" y="208483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R²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22960" y="245059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 panose="02040503050406030204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0.84 ± 0.03</a:t>
            </a:r>
            <a:endParaRPr sz="1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2743200" y="19659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2743200" y="208483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2743200" y="245059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 panose="02040503050406030204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0.25 dB</a:t>
            </a:r>
            <a:endParaRPr sz="1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663440" y="19659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4663440" y="208483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RMSE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663440" y="245059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 panose="02040503050406030204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1.02 dB</a:t>
            </a:r>
            <a:endParaRPr sz="1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11" descr="/home/claude/deck/assets/fig_ga_result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22960" y="3291840"/>
            <a:ext cx="493776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822960" y="59893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GA-optimised design: S11 dip lands on 2.45 GHz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583680" y="155448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6812280" y="166420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400"/>
              <a:buFont typeface="Cambria" panose="02040503050406030204"/>
              <a:buNone/>
            </a:pPr>
            <a:r>
              <a:rPr lang="en-US" sz="14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Genetic algorithm result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812280" y="205740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1B1B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1" descr="/home/claude/deck/assets/ga_result_crop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903720" y="2212848"/>
            <a:ext cx="411480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6583680" y="370332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6766560" y="38404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Forward vs inverse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766560" y="42519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surrogate predicts performance from a design (forward). The GA inverts this — it searches geometry to hit a target, using the surrogate as a fast fitness function.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583680" y="507492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6766560" y="5212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04B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E8B04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Avoiding inflated scores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766560" y="56235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 split data by antenna geometry (GroupKFold), not by row — so the model is tested on unseen designs. A naïve row-split would leak and fake a higher R².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2F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9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Validation — Closing the Loop in HFSS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400"/>
              <a:buFont typeface="Calibri" panose="020F0502020204030204"/>
              <a:buNone/>
            </a:pPr>
            <a:r>
              <a:rPr lang="en-US" sz="1400" b="0" i="1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GA's optimal geometry was re-simulated in full-wave HFSS to confirm the surrogate's prediction — not just trust the model, but verify it in the real solver.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822960" y="2148840"/>
            <a:ext cx="6583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2" descr="/home/claude/deck/assets/hfss_validation.jpe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0120" y="2286000"/>
            <a:ext cx="630936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/>
          <p:nvPr/>
        </p:nvSpPr>
        <p:spPr>
          <a:xfrm>
            <a:off x="822960" y="53949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 dirty="0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HFSS re-simulation of GA design (l = 28.79mm, w = 28.10 mm) — marker m1 at 2.45 GHz</a:t>
            </a:r>
            <a:endParaRPr sz="1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005840" y="566928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Full-wave HFSS confirms a strong match at the 2.45 GHz target.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7635240" y="226314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122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7818120" y="2286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Predicted  vs  Verified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7818120" y="269748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Surrogate prediction</a:t>
            </a:r>
            <a:br>
              <a:rPr lang="en-US" sz="12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1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−18.77 dB</a:t>
            </a:r>
            <a:br>
              <a:rPr lang="en-US" sz="2000" b="1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2000" b="1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HFSS verified</a:t>
            </a:r>
            <a:br>
              <a:rPr lang="en-US" sz="1200" b="0" i="0" u="none" strike="noStrike" cap="none" dirty="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1" i="0" u="none" strike="noStrike" cap="none" dirty="0">
                <a:solidFill>
                  <a:srgbClr val="2FC39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−15.49 dB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7635240" y="411480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7818120" y="425196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What this proves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818120" y="4663440"/>
            <a:ext cx="333756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Both predicted and simulated S11 show a deep match at exactly 2.45 GHz. The ML + GA pipeline did not just optimise a model — it produced a geometry that works in the real full-wave solver. This is the end-to-end validation of the whole approach.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Conclusion &amp; Future Scope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Key findings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822960" y="1920240"/>
            <a:ext cx="58521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Built our own HFSS dataset and a validated surrogate (R² = 0.84) on unseen geometries.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GA performs true inverse design — finding a 2.45 GHz-matched patch automatically.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Closed the loop: the GA's design was re-simulated in HFSS and confirmed at 2.45 GHz (−15.49 dB).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Confirmed voltage/power/phase are irrelevant for a single passive antenna (verified numerically).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Radiation results (broadside lobe, ≈5.4 dBi) agree with independent HFSS/CST analysis.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040880" y="1463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Future scope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7040880" y="1920240"/>
            <a:ext cx="44805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Complete the gain dataset across geometries → add gain as a second GA objective.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Multi-objective (Pareto) optimisation: S11 + gain + bandwidth.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Extend to a two-element array — where phase &amp; voltage steering genuinely matter.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90500" marR="0" lvl="0" indent="-190500" algn="l" rtl="0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 panose="020F0502020204030204"/>
              <a:buChar char="•"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Optimise for wider impedance bandwidth, not just a single-frequency match.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822960" y="50749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B2E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051560" y="5166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C39A"/>
              </a:buClr>
              <a:buSzPts val="1300"/>
              <a:buFont typeface="Cambria" panose="02040503050406030204"/>
              <a:buNone/>
            </a:pPr>
            <a:r>
              <a:rPr lang="en-US" sz="1300" b="1" i="0" u="none" strike="noStrike" cap="none">
                <a:solidFill>
                  <a:srgbClr val="2FC39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Key references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1051560" y="54864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Balanis, Antenna Theory: Analysis and Design  ·  Ansys HFSS 2025 R2 documentation  ·  scikit-learn &amp; PyGAD libraries  ·  Related ML-antenna literature listed on the next slide.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2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 panose="02040503050406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11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3200"/>
              <a:buFont typeface="Cambria" panose="02040503050406030204"/>
              <a:buNone/>
            </a:pPr>
            <a:r>
              <a:rPr lang="en-US" sz="32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References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Related work — ML &amp; genetic algorithms for antenna design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822960" y="19202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1051560" y="205740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I. Merino-Fernandez, J. del Pino, S. Khemchandani, </a:t>
            </a:r>
            <a:r>
              <a:rPr lang="en-US" sz="1300" b="0" i="1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“Design of rectangular patch antennas through machine learning,”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Scientific Reports, vol. 15, art. 33605, 2025.  </a:t>
            </a:r>
            <a:r>
              <a:rPr lang="en-US" sz="1300" b="0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https://doi.org/10.1038/s41598-025-18939-2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822960" y="32918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1051560" y="342900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[2] 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D. Sarkar, P. P. Shome, T. Khan, S. R. Rengarajan, </a:t>
            </a:r>
            <a:r>
              <a:rPr lang="en-US" sz="1300" b="0" i="1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“Application of Genetic Algorithm and Deep Neural Network for UWB Antennas,”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4th URSI Atlantic Radio Science Meeting (AT-RASC), Gran Canaria, 19–24 May 2024.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1051560" y="480060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[3] 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A. Gupta, S. A. Ali, A. Haadi, M. Wajid, A. Srivastava, </a:t>
            </a:r>
            <a:r>
              <a:rPr lang="en-US" sz="1300" b="0" i="1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“Radiation Pattern Synthesis of a Millimeter-Wave Array Antenna using Deep Learning,” </a:t>
            </a:r>
            <a:r>
              <a:rPr lang="en-US" sz="130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2025 8th Int. Conf. on Image Information Processing (ICIIP), IEEE, pp. 539–544.  </a:t>
            </a:r>
            <a:r>
              <a:rPr lang="en-US" sz="1300" b="0" i="0" u="none" strike="noStrike" cap="none">
                <a:solidFill>
                  <a:srgbClr val="128C8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https://doi.org/10.1109/ICIIP63302.2025.11346382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100"/>
              <a:buFont typeface="Calibri" panose="020F0502020204030204"/>
              <a:buNone/>
            </a:pPr>
            <a:r>
              <a:rPr lang="en-US" sz="11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Foundational: C. A. Balanis, Antenna Theory: Analysis and Design (Wiley) · Ansys HFSS 2025 R2 documentation · scikit-learn, PyGAD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22960" y="411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04B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E8B04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Backup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24A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12224A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Backup — Gain vs Frequency (Parametric)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22960" y="16916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5" name="Google Shape;235;p15" descr="/home/claude/deck/assets/gain_twinbuilder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0120" y="1828800"/>
            <a:ext cx="667512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5"/>
          <p:cNvSpPr/>
          <p:nvPr/>
        </p:nvSpPr>
        <p:spPr>
          <a:xfrm>
            <a:off x="822960" y="55321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7B90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6E7B9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Total gain (dB) vs frequency across geometry variations — HFSS / Twin Builder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7955280" y="1691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8138160" y="1828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8C8C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128C8C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What this shows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138160" y="224028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Boresight gain peaks near 2.4–2.6 GHz at roughly 0 to +3 dB for most geometries — typical single-patch behaviour. The steep dips are pattern nulls at that observation angle, not antenna failure.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795528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D9E2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AA7BC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8138160" y="4114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B04B"/>
              </a:buClr>
              <a:buSzPts val="1500"/>
              <a:buFont typeface="Cambria" panose="02040503050406030204"/>
              <a:buNone/>
            </a:pPr>
            <a:r>
              <a:rPr lang="en-US" sz="1500" b="1" i="0" u="none" strike="noStrike" cap="none">
                <a:solidFill>
                  <a:srgbClr val="E8B04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Status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8138160" y="4526280"/>
            <a:ext cx="30175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40"/>
              </a:buClr>
              <a:buSzPts val="1250"/>
              <a:buFont typeface="Calibri" panose="020F0502020204030204"/>
              <a:buNone/>
            </a:pPr>
            <a:r>
              <a:rPr lang="en-US" sz="1250" b="0" i="0" u="none" strike="noStrike" cap="none">
                <a:solidFill>
                  <a:srgbClr val="1B27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parametric gain run covers a limited set of geometries. Gain is therefore kept out of the GA fitness until a fuller sweep is generated — see Future Scope.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1911</Words>
  <Application>Microsoft Office PowerPoint</Application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J</dc:creator>
  <cp:lastModifiedBy>KUSHAL J</cp:lastModifiedBy>
  <cp:revision>2</cp:revision>
  <dcterms:created xsi:type="dcterms:W3CDTF">2026-07-27T06:40:17Z</dcterms:created>
  <dcterms:modified xsi:type="dcterms:W3CDTF">2026-07-27T10:56:42Z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7E34177C303247DA96E5689E9BB7A4DE_13</vt:lpwstr>
  </property>
  <property fmtid="{D5CDD505-2E9C-101B-9397-08002B2CF9AE}" pid="3" name="KSOProductBuildVer">
    <vt:lpwstr>1033-12.1.0.27458</vt:lpwstr>
  </property>
</Properties>
</file>